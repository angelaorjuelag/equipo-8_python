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6" r:id="rId1"/>
    <p:sldMasterId id="2147483790" r:id="rId2"/>
    <p:sldMasterId id="2147483838" r:id="rId3"/>
    <p:sldMasterId id="2147483885" r:id="rId4"/>
  </p:sldMasterIdLst>
  <p:notesMasterIdLst>
    <p:notesMasterId r:id="rId30"/>
  </p:notesMasterIdLst>
  <p:sldIdLst>
    <p:sldId id="256" r:id="rId5"/>
    <p:sldId id="257" r:id="rId6"/>
    <p:sldId id="268" r:id="rId7"/>
    <p:sldId id="259" r:id="rId8"/>
    <p:sldId id="260" r:id="rId9"/>
    <p:sldId id="261" r:id="rId10"/>
    <p:sldId id="262" r:id="rId11"/>
    <p:sldId id="263" r:id="rId12"/>
    <p:sldId id="277" r:id="rId13"/>
    <p:sldId id="264" r:id="rId14"/>
    <p:sldId id="265" r:id="rId15"/>
    <p:sldId id="269" r:id="rId16"/>
    <p:sldId id="258" r:id="rId17"/>
    <p:sldId id="270" r:id="rId18"/>
    <p:sldId id="278" r:id="rId19"/>
    <p:sldId id="279" r:id="rId20"/>
    <p:sldId id="272" r:id="rId21"/>
    <p:sldId id="280" r:id="rId22"/>
    <p:sldId id="281" r:id="rId23"/>
    <p:sldId id="273" r:id="rId24"/>
    <p:sldId id="282" r:id="rId25"/>
    <p:sldId id="283" r:id="rId26"/>
    <p:sldId id="274" r:id="rId27"/>
    <p:sldId id="275" r:id="rId28"/>
    <p:sldId id="276" r:id="rId29"/>
  </p:sldIdLst>
  <p:sldSz cx="14630400" cy="8229600"/>
  <p:notesSz cx="8229600" cy="14630400"/>
  <p:embeddedFontLst>
    <p:embeddedFont>
      <p:font typeface="Bebas Neue" panose="020B0604020202020204" charset="0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libri Light" panose="020F0302020204030204" pitchFamily="34" charset="0"/>
      <p:regular r:id="rId36"/>
      <p:italic r:id="rId37"/>
    </p:embeddedFont>
    <p:embeddedFont>
      <p:font typeface="DM Sans" panose="020B0604020202020204" charset="0"/>
      <p:regular r:id="rId38"/>
      <p:bold r:id="rId39"/>
      <p:italic r:id="rId40"/>
      <p:boldItalic r:id="rId41"/>
    </p:embeddedFont>
    <p:embeddedFont>
      <p:font typeface="Libre Baskerville" panose="020B0604020202020204" charset="0"/>
      <p:regular r:id="rId42"/>
    </p:embeddedFont>
    <p:embeddedFont>
      <p:font typeface="Nunito Light" pitchFamily="2" charset="0"/>
      <p:regular r:id="rId43"/>
      <p:italic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  <p:embeddedFont>
      <p:font typeface="PT Sans" panose="020B0503020203020204" pitchFamily="34" charset="0"/>
      <p:regular r:id="rId49"/>
      <p:bold r:id="rId50"/>
      <p:italic r:id="rId51"/>
      <p:boldItalic r:id="rId52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4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9.fntdata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font" Target="fonts/font20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font" Target="fonts/font2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21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6.xml"/><Relationship Id="rId41" Type="http://schemas.openxmlformats.org/officeDocument/2006/relationships/font" Target="fonts/font11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49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86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574720" y="2279800"/>
            <a:ext cx="9480960" cy="332688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152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574720" y="5718040"/>
            <a:ext cx="9508320" cy="76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56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8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8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8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8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8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8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8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80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03718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727920" y="2967200"/>
            <a:ext cx="5767680" cy="13468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76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3134800" y="2967200"/>
            <a:ext cx="1903680" cy="13468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134800" y="4702520"/>
            <a:ext cx="8360640" cy="71472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14018120" y="3326880"/>
            <a:ext cx="0" cy="157584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1" name="Google Shape;21;p3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24" name="Google Shape;24;p3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630960" y="3326880"/>
            <a:ext cx="0" cy="157584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5884668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8" name="Google Shape;28;p4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30" name="Google Shape;30;p4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33" name="Google Shape;33;p4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232640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1152000" y="1945200"/>
            <a:ext cx="12326400" cy="5172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731520" lvl="0" indent="-4470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2194560" lvl="2" indent="-4876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2926080" lvl="3" indent="-487680" rtl="0">
              <a:lnSpc>
                <a:spcPct val="115000"/>
              </a:lnSpc>
              <a:spcBef>
                <a:spcPts val="256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3657600" lvl="4" indent="-487680" rtl="0">
              <a:lnSpc>
                <a:spcPct val="115000"/>
              </a:lnSpc>
              <a:spcBef>
                <a:spcPts val="256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4389120" lvl="5" indent="-487680" rtl="0">
              <a:lnSpc>
                <a:spcPct val="115000"/>
              </a:lnSpc>
              <a:spcBef>
                <a:spcPts val="256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5120640" lvl="6" indent="-487680" rtl="0">
              <a:lnSpc>
                <a:spcPct val="115000"/>
              </a:lnSpc>
              <a:spcBef>
                <a:spcPts val="256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5852160" lvl="7" indent="-487680" rtl="0">
              <a:lnSpc>
                <a:spcPct val="115000"/>
              </a:lnSpc>
              <a:spcBef>
                <a:spcPts val="256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6583680" lvl="8" indent="-487680" rtl="0">
              <a:lnSpc>
                <a:spcPct val="115000"/>
              </a:lnSpc>
              <a:spcBef>
                <a:spcPts val="2560"/>
              </a:spcBef>
              <a:spcAft>
                <a:spcPts val="256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362493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38" name="Google Shape;38;p5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9" name="Google Shape;39;p5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40" name="Google Shape;40;p5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43" name="Google Shape;43;p5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232640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7595819" y="2995765"/>
            <a:ext cx="5916960" cy="4378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224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448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448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448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448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448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448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448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448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1162680" y="2995765"/>
            <a:ext cx="5916960" cy="4378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2240" b="0"/>
            </a:lvl1pPr>
            <a:lvl2pPr lvl="1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Char char="○"/>
              <a:defRPr sz="448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8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8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8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8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8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8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8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1162680" y="2101160"/>
            <a:ext cx="5916960" cy="6758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7595800" y="2101160"/>
            <a:ext cx="5916960" cy="6758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91564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51" name="Google Shape;51;p6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53" name="Google Shape;53;p6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56" name="Google Shape;56;p6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232640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950865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60" name="Google Shape;60;p7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1" name="Google Shape;61;p7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62" name="Google Shape;62;p7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3" name="Google Shape;63;p7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65" name="Google Shape;65;p7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002624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subTitle" idx="1"/>
          </p:nvPr>
        </p:nvSpPr>
        <p:spPr>
          <a:xfrm>
            <a:off x="1152000" y="2155600"/>
            <a:ext cx="11719200" cy="50774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56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64258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1551720" y="3326814"/>
            <a:ext cx="11527200" cy="140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cxnSp>
        <p:nvCxnSpPr>
          <p:cNvPr id="71" name="Google Shape;71;p8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2" name="Google Shape;72;p8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73" name="Google Shape;73;p8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" name="Google Shape;74;p8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6" name="Google Shape;76;p8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5560949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1152000" y="2261640"/>
            <a:ext cx="6871680" cy="33523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1152000" y="5614080"/>
            <a:ext cx="6871680" cy="16075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60"/>
            </a:lvl1pPr>
            <a:lvl2pPr lvl="1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13690854" y="7599762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8890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1141160" y="6660760"/>
            <a:ext cx="12667680" cy="86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26409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86" name="Google Shape;86;p11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87" name="Google Shape;87;p11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88" name="Google Shape;88;p11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" name="Google Shape;89;p11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1" name="Google Shape;91;p11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2054400" y="2287560"/>
            <a:ext cx="10521600" cy="2254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36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36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36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36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36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36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36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36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2054400" y="4776800"/>
            <a:ext cx="10521600" cy="79536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6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60"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600"/>
              <a:buNone/>
              <a:defRPr sz="2560"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600"/>
              <a:buNone/>
              <a:defRPr sz="2560"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600"/>
              <a:buNone/>
              <a:defRPr sz="2560"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600"/>
              <a:buNone/>
              <a:defRPr sz="2560"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600"/>
              <a:buNone/>
              <a:defRPr sz="2560"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600"/>
              <a:buNone/>
              <a:defRPr sz="2560"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600"/>
              <a:buNone/>
              <a:defRPr sz="256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59871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0391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232640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1141160" y="3229000"/>
            <a:ext cx="3881760" cy="86112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1141160" y="6193165"/>
            <a:ext cx="3881760" cy="86112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5374600" y="6193160"/>
            <a:ext cx="3881760" cy="86112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5374600" y="3228840"/>
            <a:ext cx="3881760" cy="86112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1141160" y="1826061"/>
            <a:ext cx="1049760" cy="70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8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5374600" y="4790501"/>
            <a:ext cx="1049760" cy="70224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8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1141160" y="4790501"/>
            <a:ext cx="1049760" cy="70224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8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5374600" y="1827288"/>
            <a:ext cx="1049760" cy="70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8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9596221" y="6193160"/>
            <a:ext cx="3881760" cy="86112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9596221" y="3228840"/>
            <a:ext cx="3881760" cy="86112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9596221" y="4790501"/>
            <a:ext cx="1049760" cy="70224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8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9596221" y="1827288"/>
            <a:ext cx="1049760" cy="70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8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1141160" y="2551320"/>
            <a:ext cx="3876960" cy="7022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1141160" y="5515418"/>
            <a:ext cx="3876960" cy="6854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5374600" y="5515400"/>
            <a:ext cx="3876960" cy="6854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5374600" y="2551320"/>
            <a:ext cx="3876960" cy="7022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9596221" y="5515400"/>
            <a:ext cx="3876960" cy="6854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9596221" y="2551320"/>
            <a:ext cx="3876960" cy="7022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18" name="Google Shape;118;p13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21" name="Google Shape;121;p13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9511280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24" name="Google Shape;124;p14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26" name="Google Shape;126;p14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29" name="Google Shape;129;p14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1551840" y="5420160"/>
            <a:ext cx="11526720" cy="8510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1551840" y="2100200"/>
            <a:ext cx="11526720" cy="23654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30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30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30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30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30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30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3000"/>
              <a:buNone/>
              <a:defRPr sz="4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885890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34" name="Google Shape;134;p15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5" name="Google Shape;135;p15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36" name="Google Shape;136;p15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39" name="Google Shape;139;p15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1152000" y="1837701"/>
            <a:ext cx="6311520" cy="25713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1152000" y="4605821"/>
            <a:ext cx="6311520" cy="1786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2" name="Google Shape;142;p15"/>
          <p:cNvSpPr>
            <a:spLocks noGrp="1"/>
          </p:cNvSpPr>
          <p:nvPr>
            <p:ph type="pic" idx="2"/>
          </p:nvPr>
        </p:nvSpPr>
        <p:spPr>
          <a:xfrm>
            <a:off x="8239720" y="1105661"/>
            <a:ext cx="4913280" cy="601824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24272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45" name="Google Shape;145;p16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6" name="Google Shape;146;p16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47" name="Google Shape;147;p16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9" name="Google Shape;149;p16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0" name="Google Shape;150;p16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1152000" y="2509440"/>
            <a:ext cx="4626240" cy="112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1152000" y="3630221"/>
            <a:ext cx="4626240" cy="2089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194702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55" name="Google Shape;155;p17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6" name="Google Shape;156;p17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57" name="Google Shape;157;p17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0" name="Google Shape;160;p17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232640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1500200" y="4914000"/>
            <a:ext cx="3480480" cy="13910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5574954" y="4914000"/>
            <a:ext cx="3480480" cy="13910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3"/>
          </p:nvPr>
        </p:nvSpPr>
        <p:spPr>
          <a:xfrm>
            <a:off x="9649718" y="4914000"/>
            <a:ext cx="3480480" cy="13910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4"/>
          </p:nvPr>
        </p:nvSpPr>
        <p:spPr>
          <a:xfrm>
            <a:off x="1500200" y="4304400"/>
            <a:ext cx="3480480" cy="58512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5"/>
          </p:nvPr>
        </p:nvSpPr>
        <p:spPr>
          <a:xfrm>
            <a:off x="5574955" y="4304400"/>
            <a:ext cx="3480480" cy="58512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6"/>
          </p:nvPr>
        </p:nvSpPr>
        <p:spPr>
          <a:xfrm>
            <a:off x="9649720" y="4304400"/>
            <a:ext cx="3480480" cy="58512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884104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70" name="Google Shape;170;p18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72" name="Google Shape;172;p18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75" name="Google Shape;175;p18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232640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1152040" y="2577507"/>
            <a:ext cx="12326400" cy="848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1152040" y="4369800"/>
            <a:ext cx="12326400" cy="844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1152040" y="6162600"/>
            <a:ext cx="12326400" cy="844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1152040" y="1986038"/>
            <a:ext cx="12326400" cy="62976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1152040" y="3760200"/>
            <a:ext cx="12326400" cy="62976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1152040" y="5553000"/>
            <a:ext cx="12326400" cy="62976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79789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85" name="Google Shape;185;p19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6" name="Google Shape;186;p19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187" name="Google Shape;187;p19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9" name="Google Shape;189;p19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90" name="Google Shape;190;p19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232640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2210600" y="2748840"/>
            <a:ext cx="11268000" cy="844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2210616" y="4577640"/>
            <a:ext cx="11268000" cy="844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2210616" y="6406440"/>
            <a:ext cx="11268000" cy="844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2210600" y="2249640"/>
            <a:ext cx="11268000" cy="53376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2210600" y="4042520"/>
            <a:ext cx="11268000" cy="53376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2210600" y="5835400"/>
            <a:ext cx="11268000" cy="53376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600"/>
              <a:buFont typeface="Bebas Neue"/>
              <a:buNone/>
              <a:defRPr sz="416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048409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00" name="Google Shape;200;p20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1" name="Google Shape;201;p20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02" name="Google Shape;202;p20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4" name="Google Shape;204;p20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205" name="Google Shape;205;p20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232640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subTitle" idx="1"/>
          </p:nvPr>
        </p:nvSpPr>
        <p:spPr>
          <a:xfrm>
            <a:off x="2473240" y="3160421"/>
            <a:ext cx="4091040" cy="1457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2"/>
          </p:nvPr>
        </p:nvSpPr>
        <p:spPr>
          <a:xfrm>
            <a:off x="8066120" y="3160421"/>
            <a:ext cx="4091040" cy="1457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subTitle" idx="3"/>
          </p:nvPr>
        </p:nvSpPr>
        <p:spPr>
          <a:xfrm>
            <a:off x="2473240" y="5906400"/>
            <a:ext cx="4091040" cy="1457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4"/>
          </p:nvPr>
        </p:nvSpPr>
        <p:spPr>
          <a:xfrm>
            <a:off x="8066120" y="5906400"/>
            <a:ext cx="4091040" cy="1457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subTitle" idx="5"/>
          </p:nvPr>
        </p:nvSpPr>
        <p:spPr>
          <a:xfrm>
            <a:off x="2473240" y="2672741"/>
            <a:ext cx="4091040" cy="5678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6"/>
          </p:nvPr>
        </p:nvSpPr>
        <p:spPr>
          <a:xfrm>
            <a:off x="8066120" y="2672741"/>
            <a:ext cx="4091040" cy="5678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7"/>
          </p:nvPr>
        </p:nvSpPr>
        <p:spPr>
          <a:xfrm>
            <a:off x="2473240" y="5418720"/>
            <a:ext cx="4091040" cy="5678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8"/>
          </p:nvPr>
        </p:nvSpPr>
        <p:spPr>
          <a:xfrm>
            <a:off x="8066120" y="5418720"/>
            <a:ext cx="4091040" cy="56784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974000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17" name="Google Shape;217;p21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18" name="Google Shape;218;p21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19" name="Google Shape;219;p21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21" name="Google Shape;221;p21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222" name="Google Shape;222;p21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3" name="Google Shape;223;p21"/>
          <p:cNvSpPr txBox="1">
            <a:spLocks noGrp="1"/>
          </p:cNvSpPr>
          <p:nvPr>
            <p:ph type="title"/>
          </p:nvPr>
        </p:nvSpPr>
        <p:spPr>
          <a:xfrm>
            <a:off x="1152000" y="712040"/>
            <a:ext cx="12326400" cy="916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subTitle" idx="1"/>
          </p:nvPr>
        </p:nvSpPr>
        <p:spPr>
          <a:xfrm>
            <a:off x="1446320" y="3438722"/>
            <a:ext cx="3505920" cy="1016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ubTitle" idx="2"/>
          </p:nvPr>
        </p:nvSpPr>
        <p:spPr>
          <a:xfrm>
            <a:off x="5565680" y="3438722"/>
            <a:ext cx="3492000" cy="1016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subTitle" idx="3"/>
          </p:nvPr>
        </p:nvSpPr>
        <p:spPr>
          <a:xfrm>
            <a:off x="1446320" y="5727080"/>
            <a:ext cx="3505920" cy="1016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subTitle" idx="4"/>
          </p:nvPr>
        </p:nvSpPr>
        <p:spPr>
          <a:xfrm>
            <a:off x="5565680" y="5727080"/>
            <a:ext cx="3492000" cy="1016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5"/>
          </p:nvPr>
        </p:nvSpPr>
        <p:spPr>
          <a:xfrm>
            <a:off x="9678160" y="3438722"/>
            <a:ext cx="3519840" cy="1016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ubTitle" idx="6"/>
          </p:nvPr>
        </p:nvSpPr>
        <p:spPr>
          <a:xfrm>
            <a:off x="9678160" y="5727080"/>
            <a:ext cx="3519840" cy="1016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4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subTitle" idx="7"/>
          </p:nvPr>
        </p:nvSpPr>
        <p:spPr>
          <a:xfrm>
            <a:off x="1453200" y="2650560"/>
            <a:ext cx="3492000" cy="708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ubTitle" idx="8"/>
          </p:nvPr>
        </p:nvSpPr>
        <p:spPr>
          <a:xfrm>
            <a:off x="5572538" y="2650560"/>
            <a:ext cx="3478080" cy="708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subTitle" idx="9"/>
          </p:nvPr>
        </p:nvSpPr>
        <p:spPr>
          <a:xfrm>
            <a:off x="9685077" y="2650560"/>
            <a:ext cx="3505920" cy="708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13"/>
          </p:nvPr>
        </p:nvSpPr>
        <p:spPr>
          <a:xfrm>
            <a:off x="1453200" y="4938880"/>
            <a:ext cx="3492000" cy="708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14"/>
          </p:nvPr>
        </p:nvSpPr>
        <p:spPr>
          <a:xfrm>
            <a:off x="5572538" y="4938880"/>
            <a:ext cx="3478080" cy="708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5" name="Google Shape;235;p21"/>
          <p:cNvSpPr txBox="1">
            <a:spLocks noGrp="1"/>
          </p:cNvSpPr>
          <p:nvPr>
            <p:ph type="subTitle" idx="15"/>
          </p:nvPr>
        </p:nvSpPr>
        <p:spPr>
          <a:xfrm>
            <a:off x="9685077" y="4938880"/>
            <a:ext cx="3505920" cy="708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84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29517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38" name="Google Shape;238;p22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9" name="Google Shape;239;p22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40" name="Google Shape;240;p22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42" name="Google Shape;242;p22"/>
          <p:cNvSpPr txBox="1">
            <a:spLocks noGrp="1"/>
          </p:cNvSpPr>
          <p:nvPr>
            <p:ph type="sldNum" idx="1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243" name="Google Shape;243;p22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4" name="Google Shape;244;p22"/>
          <p:cNvSpPr txBox="1">
            <a:spLocks noGrp="1"/>
          </p:cNvSpPr>
          <p:nvPr>
            <p:ph type="title" hasCustomPrompt="1"/>
          </p:nvPr>
        </p:nvSpPr>
        <p:spPr>
          <a:xfrm>
            <a:off x="3557760" y="883379"/>
            <a:ext cx="7514880" cy="123024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1"/>
          </p:nvPr>
        </p:nvSpPr>
        <p:spPr>
          <a:xfrm>
            <a:off x="3557760" y="2182840"/>
            <a:ext cx="7514880" cy="68592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56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36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36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title" idx="2" hasCustomPrompt="1"/>
          </p:nvPr>
        </p:nvSpPr>
        <p:spPr>
          <a:xfrm>
            <a:off x="3557760" y="3046989"/>
            <a:ext cx="7514880" cy="123024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2"/>
          <p:cNvSpPr txBox="1">
            <a:spLocks noGrp="1"/>
          </p:cNvSpPr>
          <p:nvPr>
            <p:ph type="subTitle" idx="3"/>
          </p:nvPr>
        </p:nvSpPr>
        <p:spPr>
          <a:xfrm>
            <a:off x="3557760" y="4346443"/>
            <a:ext cx="7514880" cy="71472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56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36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36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title" idx="4" hasCustomPrompt="1"/>
          </p:nvPr>
        </p:nvSpPr>
        <p:spPr>
          <a:xfrm>
            <a:off x="3557760" y="5210598"/>
            <a:ext cx="7514880" cy="123024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2"/>
          <p:cNvSpPr txBox="1">
            <a:spLocks noGrp="1"/>
          </p:cNvSpPr>
          <p:nvPr>
            <p:ph type="subTitle" idx="5"/>
          </p:nvPr>
        </p:nvSpPr>
        <p:spPr>
          <a:xfrm>
            <a:off x="3557760" y="6510075"/>
            <a:ext cx="7514880" cy="71472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56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36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336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336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684918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52" name="Google Shape;252;p23"/>
          <p:cNvSpPr txBox="1">
            <a:spLocks noGrp="1"/>
          </p:cNvSpPr>
          <p:nvPr>
            <p:ph type="title"/>
          </p:nvPr>
        </p:nvSpPr>
        <p:spPr>
          <a:xfrm>
            <a:off x="3756701" y="864000"/>
            <a:ext cx="7116960" cy="1693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53" name="Google Shape;253;p23"/>
          <p:cNvSpPr txBox="1">
            <a:spLocks noGrp="1"/>
          </p:cNvSpPr>
          <p:nvPr>
            <p:ph type="subTitle" idx="1"/>
          </p:nvPr>
        </p:nvSpPr>
        <p:spPr>
          <a:xfrm>
            <a:off x="3756640" y="2748520"/>
            <a:ext cx="7116960" cy="1976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3358560" y="5779120"/>
            <a:ext cx="7913280" cy="88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146280" rIns="146280" bIns="14628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92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lang="en" sz="192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92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92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lang="en" sz="192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 sz="192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92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92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lang="en" sz="192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92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sz="1920" b="1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56" name="Google Shape;256;p23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57" name="Google Shape;257;p23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8" name="Google Shape;258;p23"/>
          <p:cNvCxnSpPr/>
          <p:nvPr/>
        </p:nvCxnSpPr>
        <p:spPr>
          <a:xfrm rot="10800000" flipH="1">
            <a:off x="556254" y="7599762"/>
            <a:ext cx="13517760" cy="5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67158431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13690854" y="7599762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62" name="Google Shape;262;p24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64" name="Google Shape;264;p24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61224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6876240" y="7364600"/>
            <a:ext cx="877920" cy="53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267" name="Google Shape;267;p24"/>
          <p:cNvCxnSpPr/>
          <p:nvPr/>
        </p:nvCxnSpPr>
        <p:spPr>
          <a:xfrm>
            <a:off x="7932720" y="767814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81153750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13690854" y="7599762"/>
            <a:ext cx="877920" cy="629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70" name="Google Shape;270;p25"/>
          <p:cNvSpPr/>
          <p:nvPr/>
        </p:nvSpPr>
        <p:spPr>
          <a:xfrm>
            <a:off x="233520" y="238560"/>
            <a:ext cx="14163360" cy="7752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71" name="Google Shape;271;p25"/>
          <p:cNvCxnSpPr/>
          <p:nvPr/>
        </p:nvCxnSpPr>
        <p:spPr>
          <a:xfrm>
            <a:off x="61220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7123680" y="351800"/>
            <a:ext cx="383040" cy="38304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cxnSp>
        <p:nvCxnSpPr>
          <p:cNvPr id="273" name="Google Shape;273;p25"/>
          <p:cNvCxnSpPr/>
          <p:nvPr/>
        </p:nvCxnSpPr>
        <p:spPr>
          <a:xfrm>
            <a:off x="7932680" y="543301"/>
            <a:ext cx="608544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556254" y="7599762"/>
            <a:ext cx="13517760" cy="5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87843976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0618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5346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3406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300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2072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0788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714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732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8513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2809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>
            <a:spLocks noGrp="1"/>
          </p:cNvSpPr>
          <p:nvPr>
            <p:ph type="title"/>
          </p:nvPr>
        </p:nvSpPr>
        <p:spPr>
          <a:xfrm>
            <a:off x="1146840" y="817440"/>
            <a:ext cx="12336960" cy="771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28482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D8B40-7A0B-6D21-8D19-4EFEE2074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B063BA-3413-B77E-E36F-8AF41F315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DBD42A-AF34-41B4-86A3-2CD29F4C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7353E7-A2C6-5163-A3D3-2CF76925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4FCD53-DF65-7631-98B4-3FB7A246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91025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45288-3949-882C-072C-717F942E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925452-89A5-F6FE-BF05-AAED86AF6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DB8A88-59A0-5B5E-1AA0-1A9726A93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6B64EE-08ED-D0D3-1BE3-BA746C2B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B709D6-4673-7A1F-9BCB-334AB6C7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306854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32CA7-41A5-E6F8-DEE1-5EFD3A06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187F84-9524-DC18-0181-B2D2DE148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3A737A-C449-56A8-7ED3-5E069F14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E6FD2A-90C4-D991-5BD9-F9FB2493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98B72F-8183-C70A-F6B2-3A655CC0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8364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9C6A1-31DF-28FC-C3D1-F533397F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D9C297-39EA-41E9-4E75-4D903104D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270F9C-364B-6473-71FF-3C7D57EE6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6E2141-80CB-9239-A246-03B02CAA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39653B-FE7A-1FE7-306B-361D1B92C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FFAE93-C4F6-BBC0-DBAB-9A7DC3D5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29919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2A084-580C-B0D3-4F82-871276519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7AD69A-89C6-2E2D-5071-CACE540E9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20D88E-ACE7-726B-C7E4-A38492B98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5139AE-625F-9FCE-CD07-F72582D66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404373-EBD7-793C-9406-EC72AC7F5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4E566F2-3F16-7181-B949-91FF3CD6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B01B402-F5F3-B717-1D0F-81859A16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A5DAC0-AF83-1B29-4572-479047D2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528728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4EBDE-CA04-A621-3B57-34540E92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382373-6A39-403A-2562-6E500950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8B94C0-2276-5F8F-C131-5F1361AF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73F753-88D8-34D5-5338-6A7F1B88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27492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B888E3-1AA0-F5CC-6A86-1B3FF0D7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7B4971-0001-FE72-C565-0CD1F71B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A46CE5-E0FF-19C9-80C6-FC9A3A7A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483199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A3546-1D26-EC6A-76DE-C2A942C6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083F1C-88F5-B451-737F-CCE5E9C59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91CCAB-BD63-1EE6-A535-0129219B3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9DAB1-1EA6-A7BB-D0AF-667FE85C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AF744E-771C-708D-25A5-542EB8F04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4A9EF7-C0FE-257C-1272-43F218C1A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446951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68998-AC82-E0C4-F7D4-DE731AEE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B65DF4-E696-2517-0559-164D63874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057DA7-2566-E682-3EB9-64A50E789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B294B4-68A6-02B3-A4E8-A9637C53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DF0905-8C53-8067-F034-76A4FA32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3EE0C9-26AC-4DBF-DC6E-403BF14E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12247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14261-8A72-7D46-0855-69B1D7A36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AAD763-70DF-5AB8-495B-A87DB204D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FC11B9-4484-39C9-0EA6-9D28E5B8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7B8DF1-F7AB-A31A-2C90-34990B55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5C2CB-62B3-1A26-CEB2-D6219D19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460045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F4B161-A08E-AE1C-01FB-3DB870F12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DE2127-5E96-5E07-5E24-1D2F7AD02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0BE647-F57C-D2E1-C847-009814D9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744F51-0A91-0D32-F0EF-9268D4F4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EA7594-1EA5-D59A-59DE-8EBDAC48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07970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0959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0915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0865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3817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5933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58825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74434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5580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42967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51632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857586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166674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046124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28557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63661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855833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166969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211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628641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455123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420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41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8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41160" y="712040"/>
            <a:ext cx="12348000" cy="9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41440" y="1843960"/>
            <a:ext cx="12348000" cy="546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690854" y="7599762"/>
            <a:ext cx="877920" cy="62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08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208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208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208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208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208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208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208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208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3309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80" r:id="rId24"/>
    <p:sldLayoutId id="2147483781" r:id="rId25"/>
    <p:sldLayoutId id="2147483782" r:id="rId26"/>
    <p:sldLayoutId id="2147483783" r:id="rId27"/>
    <p:sldLayoutId id="2147483784" r:id="rId28"/>
    <p:sldLayoutId id="2147483785" r:id="rId29"/>
    <p:sldLayoutId id="2147483786" r:id="rId30"/>
    <p:sldLayoutId id="2147483787" r:id="rId31"/>
    <p:sldLayoutId id="2147483788" r:id="rId32"/>
    <p:sldLayoutId id="2147483789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>
            <a:spLocks noGrp="1"/>
          </p:cNvSpPr>
          <p:nvPr>
            <p:ph type="title"/>
          </p:nvPr>
        </p:nvSpPr>
        <p:spPr>
          <a:xfrm>
            <a:off x="1708960" y="1493520"/>
            <a:ext cx="11275680" cy="77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1"/>
          </p:nvPr>
        </p:nvSpPr>
        <p:spPr>
          <a:xfrm>
            <a:off x="1708960" y="2712720"/>
            <a:ext cx="11275680" cy="4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88653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1" r:id="rId1"/>
    <p:sldLayoutId id="214748379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B362E8-5194-D442-B865-DDCE57A4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65A901-624E-B428-6E5C-B83B726E4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E7A198-708F-4562-2170-DA4D36D875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60F25-549B-4F39-80B4-E3687426B7BA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9E8899-CA46-A05F-9A9D-20F0DEE29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88A7E0-6724-5115-7C85-5EA379BE8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0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  <p:sldLayoutId id="2147483857" r:id="rId19"/>
    <p:sldLayoutId id="2147483858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22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57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926138" y="1967269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Análisis del Trabajo Infantil en Bogotá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613314" y="6252235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Autores:</a:t>
            </a: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Thomas Santiago Orjuela Martinez, Angela Orjuela, María Fernanda Torres </a:t>
            </a:r>
            <a:endParaRPr lang="en-US" sz="2000" dirty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B8D3714-F4E9-4004-60C6-5CC5DB54F810}"/>
              </a:ext>
            </a:extLst>
          </p:cNvPr>
          <p:cNvCxnSpPr>
            <a:cxnSpLocks/>
          </p:cNvCxnSpPr>
          <p:nvPr/>
        </p:nvCxnSpPr>
        <p:spPr>
          <a:xfrm>
            <a:off x="-84221" y="7976937"/>
            <a:ext cx="1484696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505" y="940744"/>
            <a:ext cx="58869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INTRODUCCIÓN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66975" y="24490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informe sintetiza el análisis exploratorio, descriptivo y predictivo del </a:t>
            </a:r>
            <a:r>
              <a:rPr lang="en-US" sz="2000" b="1" dirty="0">
                <a:solidFill>
                  <a:srgbClr val="4214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trabajo infantil en Bogotá</a:t>
            </a: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74" y="30045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Utilizamos una base de datos con </a:t>
            </a:r>
            <a:r>
              <a:rPr lang="en-US" sz="2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56.473 registros</a:t>
            </a: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información sociodemográfica, familiar, laboral y diferencial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78011" y="4198767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201" y="4504661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73498" y="4504661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propósito es </a:t>
            </a:r>
            <a:r>
              <a:rPr lang="en-US" sz="2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factores asociados</a:t>
            </a:r>
            <a:r>
              <a:rPr lang="en-US" sz="2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proporcionar información para el diseño e implementación de </a:t>
            </a:r>
            <a:r>
              <a:rPr lang="en-US" sz="2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políticas públicas</a:t>
            </a:r>
            <a:r>
              <a:rPr lang="en-US" sz="2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erradicación y prevención.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985"/>
            <a:ext cx="65942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03CCF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03CCF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03CCF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OBJETIVOS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3423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Analizar los factores demográficos, familiares y laborales asociados al trabajo infantil en Bogotá mediante técnicas de minería de datos y modelado predictivo.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855357"/>
            <a:ext cx="6407944" cy="2040493"/>
          </a:xfrm>
          <a:prstGeom prst="roundRect">
            <a:avLst>
              <a:gd name="adj" fmla="val 717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24877"/>
            <a:ext cx="6407944" cy="121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515195"/>
            <a:ext cx="680442" cy="68044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614" y="2685336"/>
            <a:ext cx="272177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084" y="3422333"/>
            <a:ext cx="49874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Caracterización Sociodemográfica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4"/>
          <p:cNvSpPr/>
          <p:nvPr/>
        </p:nvSpPr>
        <p:spPr>
          <a:xfrm>
            <a:off x="1051084" y="391275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el perfil de NNA según sexo, ocupación, estrato y vínculo familiar.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7428548" y="2855357"/>
            <a:ext cx="6408063" cy="2040493"/>
          </a:xfrm>
          <a:prstGeom prst="roundRect">
            <a:avLst>
              <a:gd name="adj" fmla="val 717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824877"/>
            <a:ext cx="6408063" cy="12192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2515195"/>
            <a:ext cx="680442" cy="68044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371" y="2685336"/>
            <a:ext cx="272177" cy="34016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685842" y="3096458"/>
            <a:ext cx="37932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Identificación de Patrones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685842" y="3556390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600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 las condiciones familiares, sociales y de salud de los NNA registrados, para el 16 de octubre, con el fin de detectar patrones de vulnerabilidad asociados a la permanencia en trabajo infantil.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93790" y="5462826"/>
            <a:ext cx="6407944" cy="2766774"/>
          </a:xfrm>
          <a:prstGeom prst="roundRect">
            <a:avLst>
              <a:gd name="adj" fmla="val 717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32346"/>
            <a:ext cx="6407944" cy="12192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5122664"/>
            <a:ext cx="680442" cy="680442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1614" y="5292804"/>
            <a:ext cx="272177" cy="34016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14936" y="638925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600" b="0" i="0" dirty="0">
                <a:solidFill>
                  <a:srgbClr val="1F2328"/>
                </a:solidFill>
                <a:effectLst/>
                <a:latin typeface="-apple-system"/>
              </a:rPr>
              <a:t>utilizando herramientas de análisis espacial y segmentación de datos y Determinar las variables críticas (económicas, sociales, educativas o de salud) que más influyen n la probabilidad de que un NNA trabaje o esté en peores formas de trabajo infantil, aplicando técnicas analíticas de minería de datos,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7428548" y="5462826"/>
            <a:ext cx="6408063" cy="2040493"/>
          </a:xfrm>
          <a:prstGeom prst="roundRect">
            <a:avLst>
              <a:gd name="adj" fmla="val 717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432346"/>
            <a:ext cx="6408063" cy="121920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5122664"/>
            <a:ext cx="680442" cy="680442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6371" y="5292804"/>
            <a:ext cx="272177" cy="340162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7685842" y="6029801"/>
            <a:ext cx="44393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Recomendaciones Estratégicas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7685842" y="6520220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Formular acciones para fortalecer políticas de prevención y atención.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426876-DE4F-4D00-81D3-2060253BE62D}"/>
              </a:ext>
            </a:extLst>
          </p:cNvPr>
          <p:cNvSpPr txBox="1"/>
          <p:nvPr/>
        </p:nvSpPr>
        <p:spPr>
          <a:xfrm>
            <a:off x="939324" y="5619482"/>
            <a:ext cx="5868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b="1" i="0" dirty="0">
                <a:solidFill>
                  <a:srgbClr val="1F23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 las diferencias territoriales y zonas de concentración del trabajo infantil</a:t>
            </a:r>
            <a:endParaRPr lang="es-CO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313" y="467797"/>
            <a:ext cx="701111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METODOLOGÍA CRISP–DM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06742" y="1172303"/>
            <a:ext cx="1343977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análisis se desarrolló siguiendo las seis fases del proceso estándar de minería de datos </a:t>
            </a:r>
            <a:r>
              <a:rPr lang="en-US" sz="2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CRISP–DM</a:t>
            </a: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03770" y="1803083"/>
            <a:ext cx="22860" cy="5958959"/>
          </a:xfrm>
          <a:prstGeom prst="roundRect">
            <a:avLst>
              <a:gd name="adj" fmla="val 1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997898" y="1982986"/>
            <a:ext cx="34016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42" y="1930658"/>
            <a:ext cx="127516" cy="1275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4969" y="1861542"/>
            <a:ext cx="306978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Comprensión del Negocio</a:t>
            </a:r>
            <a:endParaRPr lang="en-US" sz="2000" b="1" dirty="0"/>
          </a:p>
        </p:txBody>
      </p:sp>
      <p:sp>
        <p:nvSpPr>
          <p:cNvPr id="8" name="Text 5"/>
          <p:cNvSpPr/>
          <p:nvPr/>
        </p:nvSpPr>
        <p:spPr>
          <a:xfrm>
            <a:off x="595313" y="2229326"/>
            <a:ext cx="603944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Definición de objetivos y comprensión del trabajo infantil como fenómeno social multicausal.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292340" y="3003590"/>
            <a:ext cx="34016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42" y="2951262"/>
            <a:ext cx="127516" cy="1275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95642" y="2882146"/>
            <a:ext cx="312443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Comprensión de los Datos</a:t>
            </a:r>
            <a:endParaRPr lang="en-US" sz="2000" b="1" dirty="0"/>
          </a:p>
        </p:txBody>
      </p:sp>
      <p:sp>
        <p:nvSpPr>
          <p:cNvPr id="12" name="Text 8"/>
          <p:cNvSpPr/>
          <p:nvPr/>
        </p:nvSpPr>
        <p:spPr>
          <a:xfrm>
            <a:off x="7995642" y="3249930"/>
            <a:ext cx="603944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Exploración de 81 variables iniciales, reducidas a 72 tras el análisis de estructura y calidad.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997898" y="3883343"/>
            <a:ext cx="34016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42" y="3831015"/>
            <a:ext cx="127516" cy="1275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93914" y="3761899"/>
            <a:ext cx="29408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Preparación de los Datos</a:t>
            </a:r>
            <a:endParaRPr lang="en-US" sz="2000" b="1" dirty="0"/>
          </a:p>
        </p:txBody>
      </p:sp>
      <p:sp>
        <p:nvSpPr>
          <p:cNvPr id="16" name="Text 11"/>
          <p:cNvSpPr/>
          <p:nvPr/>
        </p:nvSpPr>
        <p:spPr>
          <a:xfrm>
            <a:off x="595313" y="4129683"/>
            <a:ext cx="603944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Limpieza, transformación, depuración de variables vacías y creación de variables derivadas.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7292340" y="4763095"/>
            <a:ext cx="34016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42" y="4710767"/>
            <a:ext cx="127516" cy="1275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95642" y="46416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Modelado</a:t>
            </a:r>
            <a:endParaRPr lang="en-US" sz="2000" b="1" dirty="0"/>
          </a:p>
        </p:txBody>
      </p:sp>
      <p:sp>
        <p:nvSpPr>
          <p:cNvPr id="20" name="Text 14"/>
          <p:cNvSpPr/>
          <p:nvPr/>
        </p:nvSpPr>
        <p:spPr>
          <a:xfrm>
            <a:off x="7995642" y="5009436"/>
            <a:ext cx="603944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Aplicación de algoritmos predictivos: Árbol de decisión, Random Forest, Gradient Boosting y Regresión logística.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6997898" y="5642848"/>
            <a:ext cx="34016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42" y="5590520"/>
            <a:ext cx="127516" cy="1275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08302" y="55214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 Evaluación</a:t>
            </a:r>
            <a:endParaRPr lang="en-US" sz="2000" b="1" dirty="0"/>
          </a:p>
        </p:txBody>
      </p:sp>
      <p:sp>
        <p:nvSpPr>
          <p:cNvPr id="24" name="Text 17"/>
          <p:cNvSpPr/>
          <p:nvPr/>
        </p:nvSpPr>
        <p:spPr>
          <a:xfrm>
            <a:off x="595313" y="5889188"/>
            <a:ext cx="603944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Validación y comparación de desempeño (Accuracy, matriz de confusión, importancia de variables).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7292340" y="6522601"/>
            <a:ext cx="340162" cy="2286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42" y="6470273"/>
            <a:ext cx="127516" cy="1275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995642" y="640115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6. Despliegue</a:t>
            </a:r>
            <a:endParaRPr lang="en-US" sz="2000" b="1" dirty="0"/>
          </a:p>
        </p:txBody>
      </p:sp>
      <p:sp>
        <p:nvSpPr>
          <p:cNvPr id="28" name="Text 20"/>
          <p:cNvSpPr/>
          <p:nvPr/>
        </p:nvSpPr>
        <p:spPr>
          <a:xfrm>
            <a:off x="7995642" y="6768941"/>
            <a:ext cx="603944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Interpretación de resultados, elaboración de dashboards y presentación del informe ejecutivo.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3743"/>
            <a:ext cx="113764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ENTENDIMIENTO DE LOS DATOS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3248"/>
            <a:ext cx="670833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Estructura General de la Base de Datos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938701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1410" y="294632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28343" y="309002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8988" y="3090029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Descripción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309002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Ejemplo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59664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28343" y="374034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SEXO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8988" y="3740348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Sexo del NNA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802779" y="374034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1- Hombre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24695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28343" y="439066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OCUPACIÓN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288988" y="4390668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Actividad principal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802779" y="439066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3- Estudiante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89727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28343" y="504098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ESTRATO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288988" y="5040987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Nivel económico del hogar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802779" y="504098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Bajo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54759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028343" y="569130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POBLACIÓN DIFERENCIAL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288988" y="5691307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Grupo poblacional especial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569130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13- Migrante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619791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28343" y="634162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NNA DESVINCULADO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4288988" y="6341626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 laboral actual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802779" y="634162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/ NO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049" y="607100"/>
            <a:ext cx="13088303" cy="137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4.2 Variables con Mayor Porcentaje de Faltantes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1049" y="2540020"/>
            <a:ext cx="763797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variables con mayor porcentaje de faltantes (hasta 100%) corresponden a campos condicionales relacionados con: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1049" y="3439268"/>
            <a:ext cx="763797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Información del acudiente</a:t>
            </a: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1049" y="3768090"/>
            <a:ext cx="763797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Información laboral detallada.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1049" y="4124866"/>
            <a:ext cx="763797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Acompañamiento institucional</a:t>
            </a: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1049" y="4547356"/>
            <a:ext cx="763797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Última intervención registrada</a:t>
            </a: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1049" y="4957580"/>
            <a:ext cx="763797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Dirección de la vivienda.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1049" y="5595825"/>
            <a:ext cx="7637978" cy="2026675"/>
          </a:xfrm>
          <a:prstGeom prst="roundRect">
            <a:avLst>
              <a:gd name="adj" fmla="val 2014"/>
            </a:avLst>
          </a:prstGeom>
          <a:solidFill>
            <a:srgbClr val="C3C2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150350" y="5902113"/>
            <a:ext cx="6701909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Decisión:</a:t>
            </a:r>
            <a:r>
              <a:rPr lang="en-US" sz="2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 determinó </a:t>
            </a:r>
            <a:r>
              <a:rPr lang="en-US" sz="20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no imputar </a:t>
            </a:r>
            <a:r>
              <a:rPr lang="en-US" sz="2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estos campos, ya que el 100% de faltantes indica que no aplicaban a todos los registros. Fueron excluidas del modelado predictivo.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448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4.3 Preparación de Datos: Anonimización y Consistencia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42203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020604" y="356901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3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0" y="3717846"/>
            <a:ext cx="306110" cy="382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476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Anonimización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966692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Eliminación de todos los identificadores personales para proteger la privacidad de los NNA.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342203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776" y="3569018"/>
            <a:ext cx="680442" cy="68044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0942" y="3717846"/>
            <a:ext cx="306110" cy="3826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43776" y="4476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Estandarización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443776" y="4966692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Codificación uniforme de variables, estandarización de texto y conversión de fechas.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9640133" y="3342203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9"/>
          <p:cNvSpPr/>
          <p:nvPr/>
        </p:nvSpPr>
        <p:spPr>
          <a:xfrm>
            <a:off x="9866948" y="356901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3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4114" y="3717846"/>
            <a:ext cx="306110" cy="38266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866948" y="4476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Normalización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866948" y="4966692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Normalización de nombres de localidades y estratos para asegurar la consistencia geográfica y socioeconómica.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763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 ANÁLISIS DESCRIPTIVO: </a:t>
            </a:r>
            <a:r>
              <a:rPr lang="en-US" sz="445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Perfil</a:t>
            </a: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445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Demográfico</a:t>
            </a: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(</a:t>
            </a:r>
            <a:r>
              <a:rPr lang="en-US" sz="445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Principales</a:t>
            </a: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445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Resultados</a:t>
            </a: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67826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52.3%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793790" y="50692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Estrato Bajo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691545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Porcentaje de NNA pertenecientes al Estrato 2 (Bajo).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932772" y="356782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39.7%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3841790" y="4954429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Ocupación: Estudiante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16994" y="5926882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actividad principal reportada es ser estudiante.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1165" y="356782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57.4%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27608" y="5131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Vínculo: Hijo(a)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3" y="5926882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mayoría son hijos(as) directos del jefe del hogar.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682049" y="356474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40.6%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50692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Sexo: Hombre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2" y="566308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Ligera mayoría de registros corresponden a NNA hombres.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65" name="Isosceles Triangle 20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7E59CFC1-57F1-F0B9-BC95-6E584029F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3444" y="772160"/>
            <a:ext cx="8943510" cy="6685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Isosceles Triangle 20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13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7295"/>
            <a:ext cx="98908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5.2 Condición Laboral de los NNA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97" y="2485841"/>
            <a:ext cx="6244709" cy="30128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556474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00F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1081564" y="5564743"/>
            <a:ext cx="14114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 (Vinculado)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2926080" y="556474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B28A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3213854" y="5564743"/>
            <a:ext cx="169223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(Desvinculado)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058489" y="556474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706DD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346263" y="5564743"/>
            <a:ext cx="1511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Aplica / NA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2493050"/>
            <a:ext cx="62447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64.9%</a:t>
            </a:r>
            <a:endParaRPr lang="en-US" sz="8900" dirty="0"/>
          </a:p>
        </p:txBody>
      </p:sp>
      <p:sp>
        <p:nvSpPr>
          <p:cNvPr id="11" name="Text 8"/>
          <p:cNvSpPr/>
          <p:nvPr/>
        </p:nvSpPr>
        <p:spPr>
          <a:xfrm>
            <a:off x="7599521" y="4137541"/>
            <a:ext cx="403943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Alta Incidencia Laboral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599521" y="478964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64.9% de los NNA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la muestra han estado o están vinculados laboralmente 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99521" y="571952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Esto subraya una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incidencia de trabajo infantil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la población analizada, lo que requiere atención urgente en las políticas de prevención.</a:t>
            </a:r>
            <a:endParaRPr lang="en-US" sz="175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9C047D-B40F-0799-E0E5-45F55986C74D}"/>
              </a:ext>
            </a:extLst>
          </p:cNvPr>
          <p:cNvSpPr txBox="1"/>
          <p:nvPr/>
        </p:nvSpPr>
        <p:spPr>
          <a:xfrm>
            <a:off x="4211053" y="4030579"/>
            <a:ext cx="107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64,9%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FA02EF5-982E-833E-6147-C6B1719B8333}"/>
              </a:ext>
            </a:extLst>
          </p:cNvPr>
          <p:cNvSpPr txBox="1"/>
          <p:nvPr/>
        </p:nvSpPr>
        <p:spPr>
          <a:xfrm>
            <a:off x="2750146" y="3992280"/>
            <a:ext cx="80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13,5%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5DF50C1-C9E4-BE1B-9336-DFF17BEC88F3}"/>
              </a:ext>
            </a:extLst>
          </p:cNvPr>
          <p:cNvSpPr txBox="1"/>
          <p:nvPr/>
        </p:nvSpPr>
        <p:spPr>
          <a:xfrm>
            <a:off x="3111092" y="3213920"/>
            <a:ext cx="80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21,6%</a:t>
            </a:r>
            <a:endParaRPr lang="es-CO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1328"/>
            <a:ext cx="108468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5.3 Distribución Territorial en Bogotá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637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localidades del sur y suroccidente concentran la mayor cantidad de casos reportados de trabajo infantil.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95136"/>
            <a:ext cx="3288387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95136"/>
            <a:ext cx="391239" cy="283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52198" y="2995136"/>
            <a:ext cx="70020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11.9%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561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Ciudad Bolívar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05241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Mayor concentración de casos reportados.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35893" y="2995136"/>
            <a:ext cx="3422094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995136"/>
            <a:ext cx="311348" cy="283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28008" y="2995136"/>
            <a:ext cx="56649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9.1%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35893" y="3561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Bosa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235893" y="405241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Segunda localidad con más registros.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77995" y="2995136"/>
            <a:ext cx="3385780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995136"/>
            <a:ext cx="284321" cy="283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33797" y="2995136"/>
            <a:ext cx="60281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8.4%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677995" y="3561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Kennedy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677995" y="405241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Tercera localidad con alta incidencia.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93790" y="5345192"/>
            <a:ext cx="3419237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345192"/>
            <a:ext cx="259794" cy="283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83048" y="5345192"/>
            <a:ext cx="56935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7.6%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93790" y="5912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Suba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93790" y="640246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Localidad con un número significativo de casos.</a:t>
            </a:r>
            <a:endParaRPr lang="en-US" sz="1750" dirty="0"/>
          </a:p>
        </p:txBody>
      </p:sp>
      <p:sp>
        <p:nvSpPr>
          <p:cNvPr id="24" name="Shape 18"/>
          <p:cNvSpPr/>
          <p:nvPr/>
        </p:nvSpPr>
        <p:spPr>
          <a:xfrm>
            <a:off x="5235893" y="5345192"/>
            <a:ext cx="3382923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5345192"/>
            <a:ext cx="199549" cy="283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788837" y="5345192"/>
            <a:ext cx="60567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5.9%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5235893" y="5912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Engativá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5235893" y="640246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Quinta localidad en el ranking de casos.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EEDEC7A-B1BE-5BC9-57D8-875B2AB63C02}"/>
              </a:ext>
            </a:extLst>
          </p:cNvPr>
          <p:cNvSpPr txBox="1"/>
          <p:nvPr/>
        </p:nvSpPr>
        <p:spPr>
          <a:xfrm>
            <a:off x="745958" y="675666"/>
            <a:ext cx="731520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5.3 Población </a:t>
            </a:r>
            <a:r>
              <a:rPr lang="en-US" sz="360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diferencial</a:t>
            </a:r>
            <a:endParaRPr lang="en-US" sz="3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4ABEBF-4F80-8505-467F-DB722670C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28" y="3018756"/>
            <a:ext cx="12730743" cy="196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97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1240"/>
            <a:ext cx="111269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50" b="0" i="0" u="none" strike="noStrike" kern="1200" cap="none" spc="0" normalizeH="0" baseline="0" noProof="0" dirty="0">
                <a:ln>
                  <a:noFill/>
                </a:ln>
                <a:solidFill>
                  <a:srgbClr val="403CCF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Cruces Analíticos y Patrones de Riesgo</a:t>
            </a:r>
            <a:endParaRPr kumimoji="0" lang="en-US" sz="4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136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La minería de datos revela relaciones directas entre las variables sociodemográficas y la situación laboral de los NNA.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31701"/>
            <a:ext cx="4196358" cy="2164675"/>
          </a:xfrm>
          <a:prstGeom prst="roundRect">
            <a:avLst>
              <a:gd name="adj" fmla="val 675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131701"/>
            <a:ext cx="121920" cy="2164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524" y="338899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Género y Cuidado</a:t>
            </a:r>
            <a:endParaRPr kumimoji="0" lang="en-US" sz="2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2524" y="395037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Las </a:t>
            </a:r>
            <a:r>
              <a:rPr kumimoji="0" lang="en-US" sz="1750" b="1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labores de cuidado y oficios del hogar</a:t>
            </a: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son realizadas principalmente por </a:t>
            </a:r>
            <a:r>
              <a:rPr kumimoji="0" lang="en-US" sz="1750" b="1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mujeres</a:t>
            </a: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16962" y="3131701"/>
            <a:ext cx="4196358" cy="2164675"/>
          </a:xfrm>
          <a:prstGeom prst="roundRect">
            <a:avLst>
              <a:gd name="adj" fmla="val 675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131701"/>
            <a:ext cx="121920" cy="21646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65696" y="338899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Vínculo Familiar</a:t>
            </a:r>
            <a:endParaRPr kumimoji="0" lang="en-US" sz="2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565696" y="395037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Los </a:t>
            </a:r>
            <a:r>
              <a:rPr kumimoji="0" lang="en-US" sz="1750" b="1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nietos, hijastros y familiares indirectos</a:t>
            </a: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presentan mayores tasas de trabajo infantil.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640133" y="3131701"/>
            <a:ext cx="4196358" cy="2164675"/>
          </a:xfrm>
          <a:prstGeom prst="roundRect">
            <a:avLst>
              <a:gd name="adj" fmla="val 675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131701"/>
            <a:ext cx="121920" cy="21646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88868" y="338899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Ocupación y Sexo</a:t>
            </a:r>
            <a:endParaRPr kumimoji="0" lang="en-US" sz="2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9988868" y="395037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Las ocupaciones informales están asociadas mayormente a hombres.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793790" y="5551527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903238"/>
            <a:ext cx="283488" cy="2268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30906" y="583501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Estos patrones confirman que el riesgo de trabajo infantil está profundamente ligado a la estructura familiar y a las dinámicas de género en el hogar.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319F666-079D-6444-4536-85D7C6E67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6901"/>
            <a:ext cx="146304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181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6438C62-2CB3-F875-A990-0C902F6EC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1580" y="436287"/>
            <a:ext cx="11197506" cy="769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751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AB24E56D-0999-712C-C2C2-4877727E9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0"/>
            <a:ext cx="13154025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313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742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3542" y="0"/>
            <a:ext cx="8966858" cy="82296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1005841" y="772160"/>
            <a:ext cx="4666231" cy="2160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370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Modelado</a:t>
            </a:r>
            <a:r>
              <a:rPr kumimoji="0" lang="en-US" sz="370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70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Predictivo</a:t>
            </a:r>
            <a:r>
              <a:rPr kumimoji="0" lang="en-US" sz="370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: </a:t>
            </a:r>
            <a:r>
              <a:rPr kumimoji="0" lang="en-US" sz="370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Evaluación</a:t>
            </a:r>
            <a:r>
              <a:rPr kumimoji="0" lang="en-US" sz="370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y Variables Clave</a:t>
            </a:r>
          </a:p>
        </p:txBody>
      </p:sp>
      <p:sp>
        <p:nvSpPr>
          <p:cNvPr id="3" name="Text 1"/>
          <p:cNvSpPr/>
          <p:nvPr/>
        </p:nvSpPr>
        <p:spPr>
          <a:xfrm>
            <a:off x="1005841" y="3148057"/>
            <a:ext cx="4666233" cy="4264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Se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evaluaron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cuatro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modelos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para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predecir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la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probabilidad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de que un NNA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esté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en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situación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de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trabajo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,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buscando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el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mejor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balance entre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precisión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y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complejidad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/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Las variables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socioeconómicas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y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familiares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ocupación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,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estrato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socioeconómico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,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localidad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,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sexo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y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vínculo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con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el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jefe del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hogar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explican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la mayor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parte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de la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varianza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del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modelo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,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indicando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que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estos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factores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tienen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un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papel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clave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en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la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comprensión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del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fenómeno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0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analizado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75" y="837546"/>
            <a:ext cx="5390264" cy="3018547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0ED3E028-D4B4-C01F-EF40-05C1459E8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096" y="4950823"/>
            <a:ext cx="8298235" cy="17896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76067" y="9223772"/>
            <a:ext cx="15942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8"/>
          <p:cNvSpPr/>
          <p:nvPr/>
        </p:nvSpPr>
        <p:spPr>
          <a:xfrm>
            <a:off x="3776067" y="10044589"/>
            <a:ext cx="15942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3776186" y="10476786"/>
            <a:ext cx="15942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EC8195F-BE3E-29A1-C491-88F58D635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8363" y="0"/>
            <a:ext cx="10252528" cy="820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658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D7BCD3F-E219-CED3-77F1-BA7A36E8C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8" y="0"/>
            <a:ext cx="9875837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611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0783"/>
            <a:ext cx="83266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50" b="0" i="0" u="none" strike="noStrike" kern="1200" cap="none" spc="0" normalizeH="0" baseline="0" noProof="0" dirty="0">
                <a:ln>
                  <a:noFill/>
                </a:ln>
                <a:solidFill>
                  <a:srgbClr val="403CCF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Resumen de Hallazgos Clave</a:t>
            </a:r>
            <a:endParaRPr kumimoji="0" lang="en-US" sz="4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663190"/>
            <a:ext cx="13042821" cy="4065508"/>
          </a:xfrm>
          <a:prstGeom prst="roundRect">
            <a:avLst>
              <a:gd name="adj" fmla="val 837"/>
            </a:avLst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663190"/>
            <a:ext cx="4347567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0604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Prevalencia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0604" y="3380423"/>
            <a:ext cx="355377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prevalencia de trabajo infantil (≈65%), concentrada en hogares de bajo estrato y estructura familiar extendida.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41357" y="2663190"/>
            <a:ext cx="4347567" cy="2395657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41357" y="2663190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08333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Concentración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08333" y="3380423"/>
            <a:ext cx="32136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Ciudad Bolívar, Bosa y Kennedy son las zonas con mayor concentración de casos.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57869" y="3577471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553" y="3683794"/>
            <a:ext cx="283488" cy="354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488924" y="2663190"/>
            <a:ext cx="4347567" cy="2395657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488924" y="2663190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055900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Roles de Género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055900" y="3380423"/>
            <a:ext cx="355377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Hombres en trabajo informal; mujeres en labores de cuidado del hogar.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205436" y="3577471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121" y="3683794"/>
            <a:ext cx="283488" cy="35433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3790" y="5058847"/>
            <a:ext cx="6521291" cy="1669852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93790" y="5058847"/>
            <a:ext cx="6521291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1020604" y="52856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Vulnerabilidad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1020604" y="5776079"/>
            <a:ext cx="57275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Migrantes y NNA con discapacidad muestran mayor vulnerabilidad.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315081" y="5058847"/>
            <a:ext cx="6521410" cy="1669852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7315081" y="5058847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7315081" y="5058847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7882057" y="52856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Predicción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882057" y="5776079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El modelo Random Forest alcanzó 0.88 de exactitud, validando su potencial predictivo.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7031593" y="5610225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278" y="5716548"/>
            <a:ext cx="283488" cy="3543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FD5EA50A-AC27-FA91-E4CC-534006F0F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2395" y="0"/>
            <a:ext cx="10500015" cy="795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613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F80B4326-F3DB-0787-3E43-8D26DCECD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4950"/>
            <a:ext cx="14630400" cy="52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591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522"/>
            <a:ext cx="74568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50" b="0" i="0" u="none" strike="noStrike" kern="1200" cap="none" spc="0" normalizeH="0" baseline="0" noProof="0" dirty="0">
                <a:ln>
                  <a:noFill/>
                </a:ln>
                <a:solidFill>
                  <a:srgbClr val="403CCF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Conclusiones Estratégicas</a:t>
            </a:r>
            <a:endParaRPr kumimoji="0" lang="en-US" sz="4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01929"/>
            <a:ext cx="38987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Criterio de Éxito Cumplido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946678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El modelo superó el umbral esperado (Accuracy &gt; 0.80), validando los objetivos de predicción.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633" y="3044904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279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Causa Estructural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7790" y="2769513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El trabajo infantil en Bogotá tiene una causa estructural predominantemente socioeconómica.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201" y="3044904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9156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Perfil de Riesgo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406033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Riesgo concentrado en el sur y occidente de la ciudad, permitiendo focalización.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201" y="5304473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93790" y="4738449"/>
            <a:ext cx="38987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Políticas Basadas en Evidencia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583198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Los resultados permiten diseñar estrategias territoriales y políticas con sustento analítico.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5633" y="5304473"/>
            <a:ext cx="339328" cy="4242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9270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La aplicación de la metodología CRISP–DM garantizó el orden, la trazabilidad y la replicabilidad de todo el proceso analítico.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438" y="507563"/>
            <a:ext cx="9192101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03CCF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Recomendaciones para la Intervención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5438" y="1452563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5943" y="1832848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kumimoji="0" lang="en-US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67339" y="1636871"/>
            <a:ext cx="2747486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Focalización Territorial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67339" y="2035612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Intervenir prioritariamente en Ciudad Bolívar, Bosa y Kennedy, las localidades con mayor incidencia.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5438" y="2743319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5943" y="3123605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kumimoji="0" lang="en-US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67339" y="2927628"/>
            <a:ext cx="3178493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Acompañamiento Familiar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67339" y="3326368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Fortalecer programas de apoyo, especialmente dirigidos a hogares no nucleares (nietos, hijastros).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5438" y="4034076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5943" y="4414361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kumimoji="0" lang="en-US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67339" y="4218384"/>
            <a:ext cx="2595086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Estrategias Educativas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67339" y="4617125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programas de reintegración escolar efectivos para NNA desvinculados laboralmente.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5438" y="5324832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5943" y="5705118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kumimoji="0" lang="en-US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67339" y="5509141"/>
            <a:ext cx="2764988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Monitoreo Permanente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67339" y="5907881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Consolidar un sistema de monitoreo de casos con datos actualizados y compartidos entre instituciones.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5438" y="6615589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AE8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5943" y="6995874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kumimoji="0" lang="en-US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67339" y="6799898"/>
            <a:ext cx="2992517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Actualización del Modelo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67339" y="7198638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Actualizar el modelo predictivo semestralmente para incorporar nuevas tendencias y registros.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06661" y="1101957"/>
            <a:ext cx="1281707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Conclusiones</a:t>
            </a:r>
            <a:r>
              <a:rPr kumimoji="0" lang="en-US" sz="615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sp>
        <p:nvSpPr>
          <p:cNvPr id="4" name="Text 2"/>
          <p:cNvSpPr/>
          <p:nvPr/>
        </p:nvSpPr>
        <p:spPr>
          <a:xfrm>
            <a:off x="906661" y="28035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El análisis permitió construir una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visión integral del trabajo infantil en Bogotá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, integrando factores demográficos, familiares, económicos y territoriales.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6660" y="39744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El modelo predictivo desarrollado ofrece una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herramienta robusta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495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apoyar decisiones institucionales en la erradicación y prevención del trabajo infantil.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Violeta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2013 - Tema de 2022">
  <a:themeElements>
    <a:clrScheme name="Violeta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1276</Words>
  <Application>Microsoft Office PowerPoint</Application>
  <PresentationFormat>Personalizado</PresentationFormat>
  <Paragraphs>177</Paragraphs>
  <Slides>25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15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25</vt:i4>
      </vt:variant>
    </vt:vector>
  </HeadingPairs>
  <TitlesOfParts>
    <vt:vector size="44" baseType="lpstr">
      <vt:lpstr>Libre Baskerville</vt:lpstr>
      <vt:lpstr>Aptos</vt:lpstr>
      <vt:lpstr>Calibri Light</vt:lpstr>
      <vt:lpstr>Mulish</vt:lpstr>
      <vt:lpstr>Quicksand</vt:lpstr>
      <vt:lpstr>Calibri</vt:lpstr>
      <vt:lpstr>PT Sans</vt:lpstr>
      <vt:lpstr>Bebas Neue</vt:lpstr>
      <vt:lpstr>Nunito Light</vt:lpstr>
      <vt:lpstr>Open Sans</vt:lpstr>
      <vt:lpstr>Proxima Nova</vt:lpstr>
      <vt:lpstr>-apple-system</vt:lpstr>
      <vt:lpstr>DM Sans</vt:lpstr>
      <vt:lpstr>Aptos Display</vt:lpstr>
      <vt:lpstr>Arial</vt:lpstr>
      <vt:lpstr>Elegant Bachelor Thesis by Slidesgo</vt:lpstr>
      <vt:lpstr>Slidesgo Final Pages</vt:lpstr>
      <vt:lpstr>Tema de Office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ORJUELA Angela</dc:creator>
  <cp:lastModifiedBy>Angélico Sala 409</cp:lastModifiedBy>
  <cp:revision>3</cp:revision>
  <dcterms:created xsi:type="dcterms:W3CDTF">2025-10-16T15:39:12Z</dcterms:created>
  <dcterms:modified xsi:type="dcterms:W3CDTF">2025-10-17T00:04:14Z</dcterms:modified>
</cp:coreProperties>
</file>